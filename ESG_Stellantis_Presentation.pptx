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5C3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5C38"/>
                </a:solidFill>
                <a:latin typeface="Arial"/>
              </a:rPr>
              <a:t>Quota Energia Rinnovabile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Energia Rinnovabile (%)</c:v>
                </c:pt>
              </c:strCache>
            </c:strRef>
          </c:tx>
          <c:spPr>
            <a:solidFill>
              <a:srgbClr val="27AE60"/>
            </a:solidFill>
            <a:ln w="38100" cap="flat">
              <a:solidFill>
                <a:srgbClr val="27AE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5C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7.2</c:v>
                </c:pt>
                <c:pt idx="1">
                  <c:v>9.5</c:v>
                </c:pt>
                <c:pt idx="2">
                  <c:v>11.8</c:v>
                </c:pt>
                <c:pt idx="3">
                  <c:v>15.3</c:v>
                </c:pt>
                <c:pt idx="4">
                  <c:v>15.1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5C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3A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3A5C"/>
                </a:solidFill>
                <a:latin typeface="Arial"/>
              </a:rPr>
              <a:t>Revenue vs Net Income (2021–2025)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(K)</c:v>
                </c:pt>
              </c:strCache>
            </c:strRef>
          </c:tx>
          <c:spPr>
            <a:solidFill>
              <a:srgbClr val="1A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152000</c:v>
                </c:pt>
                <c:pt idx="1">
                  <c:v>179500</c:v>
                </c:pt>
                <c:pt idx="2">
                  <c:v>189000</c:v>
                </c:pt>
                <c:pt idx="3">
                  <c:v>171000</c:v>
                </c:pt>
                <c:pt idx="4">
                  <c:v>181000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Income (K)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13000</c:v>
                </c:pt>
                <c:pt idx="1">
                  <c:v>14500</c:v>
                </c:pt>
                <c:pt idx="2">
                  <c:v>16800</c:v>
                </c:pt>
                <c:pt idx="3">
                  <c:v>12000</c:v>
                </c:pt>
                <c:pt idx="4">
                  <c:v>15000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5C3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5C38"/>
                </a:solidFill>
                <a:latin typeface="Arial"/>
              </a:rPr>
              <a:t>Rinnovabile (%) vs Revenue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7AE60"/>
            </a:solidFill>
            <a:ln w="25400" cap="flat">
              <a:solidFill>
                <a:srgbClr val="27AE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7.2</c:v>
                </c:pt>
                <c:pt idx="1">
                  <c:v>9.5</c:v>
                </c:pt>
                <c:pt idx="2">
                  <c:v>11.8</c:v>
                </c:pt>
                <c:pt idx="3">
                  <c:v>15.3</c:v>
                </c:pt>
                <c:pt idx="4">
                  <c:v>15.1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152000</c:v>
                </c:pt>
                <c:pt idx="1">
                  <c:v>179500</c:v>
                </c:pt>
                <c:pt idx="2">
                  <c:v>189000</c:v>
                </c:pt>
                <c:pt idx="3">
                  <c:v>171000</c:v>
                </c:pt>
                <c:pt idx="4">
                  <c:v>181000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27AE60">
              <a:alpha val="40000"/>
            </a:srgbClr>
          </a:solidFill>
          <a:ln w="12700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A9DFBF">
              <a:alpha val="30000"/>
            </a:srgbClr>
          </a:solidFill>
          <a:ln w="12700">
            <a:solidFill>
              <a:srgbClr val="A9DFB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1A3A5C">
              <a:alpha val="50000"/>
            </a:srgbClr>
          </a:solidFill>
          <a:ln w="12700">
            <a:solidFill>
              <a:srgbClr val="1A3A5C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STELLANTIS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&amp; Financial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integrata sostenibilità e risultati economici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290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–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45720" cy="822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|  Python · Power BI · Jupyter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 Analitici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47472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280160"/>
            <a:ext cx="731520" cy="731520"/>
          </a:xfrm>
          <a:prstGeom prst="ellipse">
            <a:avLst/>
          </a:prstGeom>
          <a:solidFill>
            <a:srgbClr val="A9DFBF">
              <a:alpha val="8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ESG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265176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Monitorare la quota di energia rinnovabile (%) di Stellantis nel periodo 2021–2025 e valutarne la crescita.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51760" cy="347472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65176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1280160"/>
            <a:ext cx="731520" cy="731520"/>
          </a:xfrm>
          <a:prstGeom prst="ellipse">
            <a:avLst/>
          </a:prstGeom>
          <a:solidFill>
            <a:srgbClr val="A9DFBF">
              <a:alpha val="8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3756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Finanziaria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64992" y="265176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Analizzare l'andamento dei Ricavi e dell'Utile Netto, identificando trend e variazioni anno su anno.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097280"/>
            <a:ext cx="2651760" cy="347472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097280"/>
            <a:ext cx="265176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1280160"/>
            <a:ext cx="731520" cy="731520"/>
          </a:xfrm>
          <a:prstGeom prst="ellipse">
            <a:avLst/>
          </a:prstGeom>
          <a:solidFill>
            <a:srgbClr val="A9DFBF">
              <a:alpha val="8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7220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ESG–Finance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99632" y="265176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Valutare la correlazione tra sostenibilità e risultati economici, capendo se la transizione energetica è compatibile con la crescita aziendale.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 Dati e Stack Tecnologico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47472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93192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Dataset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Indicatori ESG (consumo energetico, quota rinnovabile) — estratti dai report ufficiali Stellantis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finanziari sintetici (Revenue, Net Income) — per analisi comparativa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Periodo: 2021 – 2025 (5 anni)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finale integrato: final_dataset.csv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749040"/>
            <a:ext cx="3657600" cy="749808"/>
          </a:xfrm>
          <a:prstGeom prst="rect">
            <a:avLst/>
          </a:prstGeom>
          <a:solidFill>
            <a:srgbClr val="EAF4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749040"/>
            <a:ext cx="54864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767328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report Sustainability Statement, Climate Policy Report e Annual Report sono stati utilizzati come supporto interpretativo e contestuale dell'analisi.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3931920" cy="347472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97280"/>
            <a:ext cx="393192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234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Strumenti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0" y="1828800"/>
            <a:ext cx="64008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18288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Matplotlib)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2148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analisi esplorativa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2834640"/>
            <a:ext cx="64008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28346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31546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e documentazione analisi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3840480"/>
            <a:ext cx="64008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38404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41605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Creazione dashboard interattiva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ESG: Transizione Energetica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51560"/>
            <a:ext cx="2834640" cy="100584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097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943600" y="1600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2021 (baseline)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2313432"/>
            <a:ext cx="2834640" cy="100584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23591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43600" y="28620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2024 (picco)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3575304"/>
            <a:ext cx="2834640" cy="100584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0" y="362102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+108%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943600" y="412394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totale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2021–2024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Finanziaria: Ricavi e Redditività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6692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188720"/>
            <a:ext cx="64008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0" y="1188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Ricavi 2023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0" y="15361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 massimo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0" y="2286000"/>
            <a:ext cx="64008" cy="7315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2286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Ricavi 2024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0" y="26334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Flessione temporanea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3383280"/>
            <a:ext cx="64008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3383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Ricavi 2025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83680" y="37307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Ripresa della crescita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4297680"/>
            <a:ext cx="2468880" cy="548640"/>
          </a:xfrm>
          <a:prstGeom prst="rect">
            <a:avLst/>
          </a:prstGeom>
          <a:solidFill>
            <a:srgbClr val="AED6F1">
              <a:alpha val="7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4297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influenzato da costi operativi e investimenti ESG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Correlazione ESG–Finance: Evidenze Empiriche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97280"/>
            <a:ext cx="3017520" cy="137160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1097280"/>
            <a:ext cx="301752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88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Rinnovabile % ↔ Revenue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97880" y="1691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Correlazione Positiva Moderata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60720" y="2743200"/>
            <a:ext cx="3017520" cy="137160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2743200"/>
            <a:ext cx="301752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2880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Rinnovabile % ↔ Net Income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97880" y="3337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Correlazione Debole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760720" y="4297680"/>
            <a:ext cx="3017520" cy="548640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4297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Correlazione descrittiva — non implica causalità (solo 5 anni di dati)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2E86C1">
              <a:alpha val="20000"/>
            </a:srgbClr>
          </a:solidFill>
          <a:ln w="12700">
            <a:solidFill>
              <a:srgbClr val="2E86C1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Monitoraggio KPI, trend temporali e relazione ESG–Finance in un'unica vista interattiva</a:t>
            </a:r>
            <a:endParaRPr lang="en-US" sz="1200" dirty="0"/>
          </a:p>
        </p:txBody>
      </p:sp>
      <p:pic>
        <p:nvPicPr>
          <p:cNvPr id="6" name="Image 0" descr="/home/claude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43000"/>
            <a:ext cx="8503920" cy="3749040"/>
          </a:xfrm>
          <a:prstGeom prst="rect">
            <a:avLst/>
          </a:prstGeom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55448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34440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2070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ESG Significativa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71907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quota di energia rinnovabile è cresciuta da 7.2% (2021) a 15.3% (2024), più che raddoppiando in 4 anni.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55448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234440"/>
            <a:ext cx="475488" cy="47548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2070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Ricavi in Crescita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71907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ricavi mostrano un trend complessivamente crescente, con picco nel 2023 e ripresa nel 2025 dopo una flessione nel 2024.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023360" cy="155448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063240"/>
            <a:ext cx="475488" cy="47548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63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0358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Sostenibilità e Crescita Compatibili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354787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L'incremento della componente rinnovabile non ha compromesso le performance economiche. Correlazione positiva con i ricavi.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023360" cy="155448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063240"/>
            <a:ext cx="475488" cy="47548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63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30358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Income: Effetti Ritardati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354787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legame con l'utile netto è più debole: la redditività è influenzata da costi operativi, investimenti e contesto macroeconomico.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93268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transizione verso modelli più sostenibili è compatibile con il mantenimento di solide performance finanziarie.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819656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L'analisi di correlazione mostra una relazione positiva tra quota ESG e ricavi, con effetto ritardato sull'utile netto.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34056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706624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2025 segna una fase di consolidamento: stabilizzazione della quota rinnovabile e ripresa dei ricavi.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21024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593592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L'integrazione di Python e Power BI ha permesso di ottenere insight utili per decisioni strategiche data-driven.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1A3A5C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Limiti: periodo limitato a 5 anni · dati finanziari semplificati · correlazione ≠ causalità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del Progetto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49808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13385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01_data_understanding.ipynb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4813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analisi esplorativa, correlazione — sviluppato in Python/Pandas/Matplotlib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574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04825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capstone_powerBi.pbix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23957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interattiva con KPI, trend temporali e scatter plot ESG–Finance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749808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718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296265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final_dataset.csv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33101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finale integrato (ESG + finanziario), pronto per l'analisi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86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📑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387705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report_finale.pdf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25880" y="42245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completo con analisi dei trend, correlazioni e conclusioni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Sviluppi Futuri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Direzioni di ricerca per estendere e approfondire l'analisi ESG–Finance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60520" cy="160020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16002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71600"/>
            <a:ext cx="438912" cy="438912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0" y="13441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8992" y="13258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Ampliamento del Periodo Storico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18562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Estendere l'analisi a 10+ anni per rilevare cicli economici completi, migliorare la significatività statistica e ridurre la dipendenza da variazioni annuali singole.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4160520" cy="160020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34440"/>
            <a:ext cx="64008" cy="1600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9472" y="1371600"/>
            <a:ext cx="438912" cy="43891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13441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68112" y="13258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Emissioni CO₂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9472" y="18562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Aggiungere indicatori di emissioni di CO₂ e Scope 1/2/3 per costruire una visione ESG più completa e allineata agli standard di rendicontazione GRI e TCFD.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4160520" cy="160020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17520"/>
            <a:ext cx="64008" cy="1600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154680"/>
            <a:ext cx="438912" cy="43891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154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31272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78992" y="3108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Statistica Avanzata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363931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Applicare modelli di regressione multipla, VAR (Vector Autoregression) e test di causalità di Granger per superare i limiti della semplice correlazione descrittiva.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017520"/>
            <a:ext cx="4160520" cy="160020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017520"/>
            <a:ext cx="64008" cy="1600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19472" y="3154680"/>
            <a:ext cx="438912" cy="43891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3154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31272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68112" y="3108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ESG–Finance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19472" y="363931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Sviluppare modelli predittivi (ARIMA, Prophet, Machine Learning) per stimare l'evoluzione futura degli indicatori ESG e il loro impatto atteso sui risultati finanziari.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ESG &amp; Financial Performance - Stellantis</dc:title>
  <dc:subject>PptxGenJS Presentation</dc:subject>
  <dc:creator>PptxGenJS</dc:creator>
  <cp:lastModifiedBy>PptxGenJS</cp:lastModifiedBy>
  <cp:revision>1</cp:revision>
  <dcterms:created xsi:type="dcterms:W3CDTF">2026-05-15T13:25:46Z</dcterms:created>
  <dcterms:modified xsi:type="dcterms:W3CDTF">2026-05-15T13:25:46Z</dcterms:modified>
</cp:coreProperties>
</file>